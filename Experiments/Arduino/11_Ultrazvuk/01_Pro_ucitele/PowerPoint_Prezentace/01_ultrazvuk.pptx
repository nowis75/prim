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3" r:id="rId3"/>
  </p:sldMasterIdLst>
  <p:notesMasterIdLst>
    <p:notesMasterId r:id="rId11"/>
  </p:notesMasterIdLst>
  <p:sldIdLst>
    <p:sldId id="256" r:id="rId4"/>
    <p:sldId id="300" r:id="rId5"/>
    <p:sldId id="325" r:id="rId6"/>
    <p:sldId id="317" r:id="rId7"/>
    <p:sldId id="302" r:id="rId8"/>
    <p:sldId id="318" r:id="rId9"/>
    <p:sldId id="308" r:id="rId10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A40D"/>
    <a:srgbClr val="AB7942"/>
    <a:srgbClr val="FFFFFF"/>
    <a:srgbClr val="32A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79" autoAdjust="0"/>
    <p:restoredTop sz="94560" autoAdjust="0"/>
  </p:normalViewPr>
  <p:slideViewPr>
    <p:cSldViewPr>
      <p:cViewPr varScale="1">
        <p:scale>
          <a:sx n="276" d="100"/>
          <a:sy n="276" d="100"/>
        </p:scale>
        <p:origin x="976" y="176"/>
      </p:cViewPr>
      <p:guideLst>
        <p:guide orient="horz" pos="139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4CD106-0280-324C-A42B-4E18AB917999}" type="datetimeFigureOut">
              <a:rPr lang="cs-CZ" smtClean="0"/>
              <a:t>06.02.2021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63EBD-36E0-F44F-9E80-9C86A797193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6563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851920" y="1794902"/>
            <a:ext cx="5292080" cy="1080121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>
                <a:ea typeface="맑은 고딕" pitchFamily="50" charset="-127"/>
              </a:rPr>
              <a:t>FREE </a:t>
            </a:r>
          </a:p>
          <a:p>
            <a:r>
              <a:rPr lang="en-US" altLang="ko-KR" dirty="0">
                <a:ea typeface="맑은 고딕" pitchFamily="50" charset="-127"/>
              </a:rPr>
              <a:t>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851772" y="2947030"/>
            <a:ext cx="5292080" cy="48881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>
              <a:spcBef>
                <a:spcPts val="0"/>
              </a:spcBef>
              <a:defRPr/>
            </a:pPr>
            <a:r>
              <a:rPr lang="en-US" altLang="ko-KR" b="1" dirty="0"/>
              <a:t>INSERT THE TITLE </a:t>
            </a:r>
          </a:p>
          <a:p>
            <a:pPr>
              <a:spcBef>
                <a:spcPts val="0"/>
              </a:spcBef>
              <a:defRPr/>
            </a:pPr>
            <a:r>
              <a:rPr lang="en-US" altLang="ko-KR" b="1" dirty="0"/>
              <a:t>OF YOUR PRESENTATION HERE</a:t>
            </a:r>
            <a:endParaRPr lang="en-US" altLang="ko-KR" dirty="0"/>
          </a:p>
        </p:txBody>
      </p:sp>
      <p:pic>
        <p:nvPicPr>
          <p:cNvPr id="1026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640" y="657349"/>
            <a:ext cx="1765300" cy="391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273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572242"/>
            <a:ext cx="9144000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14830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3311860" y="737642"/>
            <a:ext cx="2520280" cy="25202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2351" y="1139211"/>
            <a:ext cx="819298" cy="1818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247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2604" y="0"/>
            <a:ext cx="158417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84" y="938231"/>
            <a:ext cx="1584176" cy="351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789484" y="938231"/>
            <a:ext cx="792088" cy="351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2604" y="0"/>
            <a:ext cx="158417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4" name="Picture 2" descr="E:\002-KIMS BUSINESS\007-02-Fullslidesppt-Contents\20161228\02-edu\bulb-item2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35" y="2931790"/>
            <a:ext cx="945499" cy="209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998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3399842"/>
            <a:ext cx="9144000" cy="17436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4043561" y="2859782"/>
            <a:ext cx="1080120" cy="108012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057" y="3010192"/>
            <a:ext cx="351128" cy="77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6867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4963500"/>
            <a:ext cx="9144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Rectangle 4"/>
          <p:cNvSpPr/>
          <p:nvPr userDrawn="1"/>
        </p:nvSpPr>
        <p:spPr>
          <a:xfrm>
            <a:off x="0" y="0"/>
            <a:ext cx="9144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96085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143508" y="92609"/>
            <a:ext cx="8856984" cy="49582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1347774"/>
            <a:ext cx="2160240" cy="187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327920" y="1347774"/>
            <a:ext cx="2160240" cy="187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655840" y="1347774"/>
            <a:ext cx="2160240" cy="187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6983760" y="1347774"/>
            <a:ext cx="2160240" cy="187204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3219822"/>
            <a:ext cx="216000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2328000" y="3219822"/>
            <a:ext cx="216000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Rectangle 12"/>
          <p:cNvSpPr/>
          <p:nvPr userDrawn="1"/>
        </p:nvSpPr>
        <p:spPr>
          <a:xfrm>
            <a:off x="4656000" y="3219822"/>
            <a:ext cx="216000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6984000" y="3219822"/>
            <a:ext cx="2160000" cy="1584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932113"/>
            <a:ext cx="9144000" cy="2211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131590"/>
            <a:ext cx="7230270" cy="367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4513480" y="1626257"/>
            <a:ext cx="3465217" cy="25626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467544" y="3363838"/>
            <a:ext cx="3024336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05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759754"/>
            <a:ext cx="9144000" cy="2211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208" y="1042230"/>
            <a:ext cx="2869272" cy="3474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7380312" y="1175233"/>
            <a:ext cx="1008112" cy="25561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643269" y="1261134"/>
            <a:ext cx="1654766" cy="255610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0137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3059832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4860032" y="0"/>
            <a:ext cx="36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4896032" y="1311750"/>
            <a:ext cx="180000" cy="25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440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9144000" cy="30765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50635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131840" y="181632"/>
            <a:ext cx="6012160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131840" y="757696"/>
            <a:ext cx="6012160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3059832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146470" y="1131590"/>
            <a:ext cx="3059832" cy="40119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8877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411510"/>
            <a:ext cx="6444208" cy="43204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35622" y="195487"/>
            <a:ext cx="1944216" cy="4752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2223854" y="195487"/>
            <a:ext cx="1944216" cy="4752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312086" y="195487"/>
            <a:ext cx="1944216" cy="47525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2137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44208" y="267494"/>
            <a:ext cx="216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6444208" y="2715766"/>
            <a:ext cx="216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3986213" y="267494"/>
            <a:ext cx="216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986213" y="2715766"/>
            <a:ext cx="2160000" cy="21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9397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6" y="3291830"/>
            <a:ext cx="8748464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536" y="3867894"/>
            <a:ext cx="8748464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4963500"/>
            <a:ext cx="9144000" cy="18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67544" y="339502"/>
            <a:ext cx="3312128" cy="280807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995936" y="339502"/>
            <a:ext cx="4680520" cy="13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995936" y="1815574"/>
            <a:ext cx="1440000" cy="13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6196" y="1815574"/>
            <a:ext cx="1440000" cy="13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236456" y="1815574"/>
            <a:ext cx="1440000" cy="13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4261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8" name="Half Frame 17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2571750"/>
            <a:ext cx="9144000" cy="25717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Rectangle 1"/>
          <p:cNvSpPr/>
          <p:nvPr userDrawn="1"/>
        </p:nvSpPr>
        <p:spPr>
          <a:xfrm>
            <a:off x="2116108" y="843558"/>
            <a:ext cx="4896544" cy="34563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2116108" y="0"/>
            <a:ext cx="4896544" cy="19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116108" y="4948014"/>
            <a:ext cx="4896544" cy="1954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116108" y="3049518"/>
            <a:ext cx="4896544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116108" y="3625582"/>
            <a:ext cx="4896544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bg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2050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155985" y="1156325"/>
            <a:ext cx="816788" cy="181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683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2" r:id="rId2"/>
    <p:sldLayoutId id="2147483670" r:id="rId3"/>
    <p:sldLayoutId id="2147483652" r:id="rId4"/>
    <p:sldLayoutId id="2147483671" r:id="rId5"/>
    <p:sldLayoutId id="2147483655" r:id="rId6"/>
    <p:sldLayoutId id="2147483662" r:id="rId7"/>
    <p:sldLayoutId id="2147483663" r:id="rId8"/>
    <p:sldLayoutId id="2147483665" r:id="rId9"/>
    <p:sldLayoutId id="2147483666" r:id="rId10"/>
    <p:sldLayoutId id="2147483667" r:id="rId11"/>
    <p:sldLayoutId id="2147483664" r:id="rId12"/>
    <p:sldLayoutId id="2147483668" r:id="rId13"/>
    <p:sldLayoutId id="2147483669" r:id="rId14"/>
    <p:sldLayoutId id="2147483656" r:id="rId15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NUL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Dokument_Microsoft_Wordu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microsoft.com/office/2007/relationships/hdphoto" Target="NULL"/><Relationship Id="rId5" Type="http://schemas.openxmlformats.org/officeDocument/2006/relationships/image" Target="NUL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microsoft.com/office/2007/relationships/hdphoto" Target="NUL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Dokument_Microsoft_Wordu1.docx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microsoft.com/office/2007/relationships/hdphoto" Target="NULL"/><Relationship Id="rId5" Type="http://schemas.openxmlformats.org/officeDocument/2006/relationships/image" Target="NULL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208108" y="2219088"/>
            <a:ext cx="5415627" cy="1080121"/>
          </a:xfrm>
        </p:spPr>
        <p:txBody>
          <a:bodyPr/>
          <a:lstStyle/>
          <a:p>
            <a:r>
              <a:rPr lang="en-US" altLang="ko-KR" sz="3600" b="1" dirty="0" err="1">
                <a:latin typeface="Andale Mono" charset="0"/>
                <a:ea typeface="Andale Mono" charset="0"/>
                <a:cs typeface="Andale Mono" charset="0"/>
              </a:rPr>
              <a:t>Ultrazvukový</a:t>
            </a:r>
            <a:r>
              <a:rPr lang="en-US" altLang="ko-KR" sz="3600" b="1" dirty="0"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en-US" altLang="ko-KR" sz="3600" b="1" dirty="0" err="1">
                <a:latin typeface="Andale Mono" charset="0"/>
                <a:ea typeface="Andale Mono" charset="0"/>
                <a:cs typeface="Andale Mono" charset="0"/>
              </a:rPr>
              <a:t>senzor</a:t>
            </a:r>
            <a:endParaRPr lang="en-US" altLang="ko-KR" sz="3600" b="1" dirty="0">
              <a:latin typeface="Andale Mono" charset="0"/>
              <a:ea typeface="Andale Mono" charset="0"/>
              <a:cs typeface="Andale Mono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007111" y="3306054"/>
            <a:ext cx="5616624" cy="648072"/>
          </a:xfrm>
        </p:spPr>
        <p:txBody>
          <a:bodyPr/>
          <a:lstStyle/>
          <a:p>
            <a:pPr algn="r" latinLnBrk="0" hangingPunct="0">
              <a:lnSpc>
                <a:spcPct val="150000"/>
              </a:lnSpc>
              <a:spcBef>
                <a:spcPts val="0"/>
              </a:spcBef>
              <a:defRPr/>
            </a:pPr>
            <a:r>
              <a:rPr lang="cs-CZ" sz="1200" dirty="0">
                <a:latin typeface="Andale Mono" charset="0"/>
                <a:ea typeface="Andale Mono" charset="0"/>
                <a:cs typeface="Andale Mono" charset="0"/>
              </a:rPr>
              <a:t>JEDNÍM Z MNOHA SENZORŮ V ROBOTICE JE ULTRAZVUKOVÉ ČIDLO, KTERÉ NALEZNE UPLATNĚNÍ V CELÉ ŘADĚ APLIKACÍ. JEHO PRINCIP JE POMĚRNĚ JEDNODUCHÝ A TVOŘÍ NEDOMYSLITELNOU ČÁST SENZORICKÉHO SUBSYSTÉMU.</a:t>
            </a:r>
            <a:endParaRPr lang="en-US" altLang="ko-KR" sz="1200" dirty="0">
              <a:latin typeface="Andale Mono" charset="0"/>
              <a:ea typeface="Andale Mono" charset="0"/>
              <a:cs typeface="Andale Mono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cs-CZ"/>
          </a:p>
        </p:txBody>
      </p:sp>
      <p:grpSp>
        <p:nvGrpSpPr>
          <p:cNvPr id="9" name="Skupina 8">
            <a:extLst>
              <a:ext uri="{FF2B5EF4-FFF2-40B4-BE49-F238E27FC236}">
                <a16:creationId xmlns:a16="http://schemas.microsoft.com/office/drawing/2014/main" id="{FA647A70-C618-D94A-9BB1-F4DAA0E82AAD}"/>
              </a:ext>
            </a:extLst>
          </p:cNvPr>
          <p:cNvGrpSpPr/>
          <p:nvPr/>
        </p:nvGrpSpPr>
        <p:grpSpPr>
          <a:xfrm>
            <a:off x="7524328" y="199433"/>
            <a:ext cx="1416811" cy="432226"/>
            <a:chOff x="7524328" y="199433"/>
            <a:chExt cx="1416811" cy="432226"/>
          </a:xfrm>
        </p:grpSpPr>
        <p:pic>
          <p:nvPicPr>
            <p:cNvPr id="11" name="Obrázek 10">
              <a:extLst>
                <a:ext uri="{FF2B5EF4-FFF2-40B4-BE49-F238E27FC236}">
                  <a16:creationId xmlns:a16="http://schemas.microsoft.com/office/drawing/2014/main" id="{233A3840-E618-A241-88A5-89950881B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11772" y="199433"/>
              <a:ext cx="529367" cy="360218"/>
            </a:xfrm>
            <a:prstGeom prst="rect">
              <a:avLst/>
            </a:prstGeom>
          </p:spPr>
        </p:pic>
        <p:sp>
          <p:nvSpPr>
            <p:cNvPr id="12" name="TextovéPole 11">
              <a:extLst>
                <a:ext uri="{FF2B5EF4-FFF2-40B4-BE49-F238E27FC236}">
                  <a16:creationId xmlns:a16="http://schemas.microsoft.com/office/drawing/2014/main" id="{CBB544A9-AC25-C745-AFBB-72CADE053B58}"/>
                </a:ext>
              </a:extLst>
            </p:cNvPr>
            <p:cNvSpPr txBox="1"/>
            <p:nvPr/>
          </p:nvSpPr>
          <p:spPr>
            <a:xfrm>
              <a:off x="7524328" y="416215"/>
              <a:ext cx="9156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sz="800" b="1">
                  <a:solidFill>
                    <a:schemeClr val="bg1"/>
                  </a:solidFill>
                  <a:latin typeface="Andale Mono" charset="0"/>
                  <a:ea typeface="Andale Mono" charset="0"/>
                  <a:cs typeface="Andale Mono" charset="0"/>
                </a:rPr>
                <a:t>PROGRAMOVÁNÍ</a:t>
              </a:r>
              <a:endParaRPr lang="cs-CZ" sz="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endParaRPr>
            </a:p>
          </p:txBody>
        </p:sp>
      </p:grpSp>
      <p:pic>
        <p:nvPicPr>
          <p:cNvPr id="13" name="Obrázek 12">
            <a:extLst>
              <a:ext uri="{FF2B5EF4-FFF2-40B4-BE49-F238E27FC236}">
                <a16:creationId xmlns:a16="http://schemas.microsoft.com/office/drawing/2014/main" id="{808469D7-115B-A048-AC2F-9C2AAD75DE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57200"/>
            <a:ext cx="2866856" cy="237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36512" y="0"/>
            <a:ext cx="2016224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 Placeholder 1"/>
          <p:cNvSpPr txBox="1">
            <a:spLocks/>
          </p:cNvSpPr>
          <p:nvPr/>
        </p:nvSpPr>
        <p:spPr>
          <a:xfrm>
            <a:off x="-36512" y="555526"/>
            <a:ext cx="1980220" cy="144040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1800" b="1" dirty="0" err="1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Otázka</a:t>
            </a:r>
            <a:r>
              <a:rPr lang="en-US" altLang="ko-KR" sz="1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 </a:t>
            </a:r>
            <a:br>
              <a:rPr lang="en-US" altLang="ko-KR" sz="1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</a:br>
            <a:r>
              <a:rPr lang="en-US" altLang="ko-KR" sz="1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pro </a:t>
            </a:r>
            <a:r>
              <a:rPr lang="en-US" altLang="ko-KR" sz="1800" b="1" dirty="0" err="1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vás</a:t>
            </a:r>
            <a:endParaRPr lang="ko-KR" altLang="en-US" sz="1800" b="1" dirty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</p:txBody>
      </p:sp>
      <p:sp>
        <p:nvSpPr>
          <p:cNvPr id="11" name="TextovéPole 10"/>
          <p:cNvSpPr txBox="1"/>
          <p:nvPr/>
        </p:nvSpPr>
        <p:spPr>
          <a:xfrm>
            <a:off x="2411760" y="627534"/>
            <a:ext cx="6120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 hangingPunct="0"/>
            <a:r>
              <a:rPr lang="cs-CZ" sz="1600" b="1" dirty="0">
                <a:solidFill>
                  <a:srgbClr val="AB7942"/>
                </a:solidFill>
                <a:latin typeface="Andale Mono" charset="0"/>
                <a:ea typeface="Andale Mono" charset="0"/>
                <a:cs typeface="Andale Mono" charset="0"/>
              </a:rPr>
              <a:t>Věděli byste na jakém principu pracuje ultrazvukový senzor?</a:t>
            </a:r>
          </a:p>
        </p:txBody>
      </p:sp>
      <p:sp>
        <p:nvSpPr>
          <p:cNvPr id="4" name="TextovéPole 3"/>
          <p:cNvSpPr txBox="1"/>
          <p:nvPr/>
        </p:nvSpPr>
        <p:spPr>
          <a:xfrm>
            <a:off x="2411760" y="3454918"/>
            <a:ext cx="61652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 hangingPunct="0"/>
            <a:r>
              <a:rPr lang="cs-CZ" sz="1200" dirty="0">
                <a:effectLst>
                  <a:outerShdw sx="0" sy="0" algn="ctr">
                    <a:srgbClr val="159294"/>
                  </a:outerShdw>
                </a:effectLst>
                <a:latin typeface="Andale Mono" charset="0"/>
                <a:ea typeface="Andale Mono" charset="0"/>
                <a:cs typeface="Andale Mono" charset="0"/>
              </a:rPr>
              <a:t>Ultrazvukové senzory fungují tak, že vydávají zvukové vlny s frekvencí, která je pro člověka příliš vysoká. Tyto zvukové vlny cestují vzduchem rychlostí zvuku, zhruba 343 m/s. Pokud je před snímačem nějaký předmět, zvukové vlny se odrazí zpět a přijímač ultrazvukového snímače je detekuje. Měřením toho, kolik času uplynulo mezi odesláním a příjmem zvukových vln, lze vypočítat vzdálenost mezi senzorem a objektem.</a:t>
            </a:r>
            <a:endParaRPr lang="cs-CZ" sz="1200" dirty="0">
              <a:latin typeface="Andale Mono" charset="0"/>
              <a:ea typeface="Andale Mono" charset="0"/>
              <a:cs typeface="Andale Mono" charset="0"/>
            </a:endParaRPr>
          </a:p>
        </p:txBody>
      </p:sp>
      <p:pic>
        <p:nvPicPr>
          <p:cNvPr id="13" name="Obrázek 12">
            <a:extLst>
              <a:ext uri="{FF2B5EF4-FFF2-40B4-BE49-F238E27FC236}">
                <a16:creationId xmlns:a16="http://schemas.microsoft.com/office/drawing/2014/main" id="{B4B590A1-C5E9-D242-8059-3F6537454C4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35896" y="1635646"/>
            <a:ext cx="3253740" cy="14611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Skupina 11">
            <a:extLst>
              <a:ext uri="{FF2B5EF4-FFF2-40B4-BE49-F238E27FC236}">
                <a16:creationId xmlns:a16="http://schemas.microsoft.com/office/drawing/2014/main" id="{D957F3D8-DBF7-C445-A57A-2CEF7E4B160A}"/>
              </a:ext>
            </a:extLst>
          </p:cNvPr>
          <p:cNvGrpSpPr/>
          <p:nvPr/>
        </p:nvGrpSpPr>
        <p:grpSpPr>
          <a:xfrm>
            <a:off x="395536" y="4659804"/>
            <a:ext cx="1416811" cy="432226"/>
            <a:chOff x="7524328" y="199433"/>
            <a:chExt cx="1416811" cy="432226"/>
          </a:xfrm>
        </p:grpSpPr>
        <p:pic>
          <p:nvPicPr>
            <p:cNvPr id="15" name="Obrázek 14">
              <a:extLst>
                <a:ext uri="{FF2B5EF4-FFF2-40B4-BE49-F238E27FC236}">
                  <a16:creationId xmlns:a16="http://schemas.microsoft.com/office/drawing/2014/main" id="{0C55CA3D-2F94-724B-A110-B66C2F37C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11772" y="199433"/>
              <a:ext cx="529367" cy="360218"/>
            </a:xfrm>
            <a:prstGeom prst="rect">
              <a:avLst/>
            </a:prstGeom>
          </p:spPr>
        </p:pic>
        <p:sp>
          <p:nvSpPr>
            <p:cNvPr id="16" name="TextovéPole 15">
              <a:extLst>
                <a:ext uri="{FF2B5EF4-FFF2-40B4-BE49-F238E27FC236}">
                  <a16:creationId xmlns:a16="http://schemas.microsoft.com/office/drawing/2014/main" id="{C373BC48-3672-CC4F-ABA2-216238B89ECC}"/>
                </a:ext>
              </a:extLst>
            </p:cNvPr>
            <p:cNvSpPr txBox="1"/>
            <p:nvPr/>
          </p:nvSpPr>
          <p:spPr>
            <a:xfrm>
              <a:off x="7524328" y="416215"/>
              <a:ext cx="9156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sz="800" b="1">
                  <a:solidFill>
                    <a:schemeClr val="bg1"/>
                  </a:solidFill>
                  <a:latin typeface="Andale Mono" charset="0"/>
                  <a:ea typeface="Andale Mono" charset="0"/>
                  <a:cs typeface="Andale Mono" charset="0"/>
                </a:rPr>
                <a:t>PROGRAMOVÁNÍ</a:t>
              </a:r>
              <a:endParaRPr lang="cs-CZ" sz="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759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36512" y="0"/>
            <a:ext cx="2016224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 Placeholder 1"/>
          <p:cNvSpPr txBox="1">
            <a:spLocks/>
          </p:cNvSpPr>
          <p:nvPr/>
        </p:nvSpPr>
        <p:spPr>
          <a:xfrm>
            <a:off x="-36512" y="555526"/>
            <a:ext cx="1980220" cy="144040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1800" b="1" dirty="0" err="1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Otázka</a:t>
            </a:r>
            <a:r>
              <a:rPr lang="en-US" altLang="ko-KR" sz="1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 </a:t>
            </a:r>
            <a:br>
              <a:rPr lang="en-US" altLang="ko-KR" sz="1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</a:br>
            <a:r>
              <a:rPr lang="en-US" altLang="ko-KR" sz="1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pro </a:t>
            </a:r>
            <a:r>
              <a:rPr lang="en-US" altLang="ko-KR" sz="1800" b="1" dirty="0" err="1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vás</a:t>
            </a:r>
            <a:endParaRPr lang="ko-KR" altLang="en-US" sz="1800" b="1" dirty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</p:txBody>
      </p:sp>
      <p:sp>
        <p:nvSpPr>
          <p:cNvPr id="11" name="TextovéPole 10"/>
          <p:cNvSpPr txBox="1"/>
          <p:nvPr/>
        </p:nvSpPr>
        <p:spPr>
          <a:xfrm>
            <a:off x="2411760" y="627534"/>
            <a:ext cx="6120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 hangingPunct="0"/>
            <a:r>
              <a:rPr lang="cs-CZ" sz="1600" b="1" dirty="0">
                <a:solidFill>
                  <a:srgbClr val="AB7942"/>
                </a:solidFill>
                <a:latin typeface="Andale Mono" charset="0"/>
                <a:ea typeface="Andale Mono" charset="0"/>
                <a:cs typeface="Andale Mono" charset="0"/>
              </a:rPr>
              <a:t>Věděli byste na jakém principu pracuje ultrazvukový senzor?</a:t>
            </a:r>
          </a:p>
        </p:txBody>
      </p:sp>
      <p:sp>
        <p:nvSpPr>
          <p:cNvPr id="4" name="TextovéPole 3"/>
          <p:cNvSpPr txBox="1"/>
          <p:nvPr/>
        </p:nvSpPr>
        <p:spPr>
          <a:xfrm>
            <a:off x="2483768" y="3644342"/>
            <a:ext cx="61652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 hangingPunct="0"/>
            <a:r>
              <a:rPr lang="cs-CZ" sz="1200" dirty="0">
                <a:effectLst>
                  <a:outerShdw sx="0" sy="0" algn="ctr">
                    <a:srgbClr val="159294"/>
                  </a:outerShdw>
                </a:effectLst>
                <a:latin typeface="Andale Mono" charset="0"/>
                <a:ea typeface="Andale Mono" charset="0"/>
                <a:cs typeface="Andale Mono" charset="0"/>
              </a:rPr>
              <a:t>Vzdálenost (cm) = rychlost zvuku (cm/µs) × čas (µs)/2</a:t>
            </a:r>
          </a:p>
          <a:p>
            <a:pPr latinLnBrk="0" hangingPunct="0"/>
            <a:endParaRPr lang="cs-CZ" sz="1200" dirty="0">
              <a:effectLst>
                <a:outerShdw sx="0" sy="0" algn="ctr">
                  <a:srgbClr val="159294"/>
                </a:outerShdw>
              </a:effectLst>
              <a:latin typeface="Andale Mono" charset="0"/>
              <a:ea typeface="Andale Mono" charset="0"/>
              <a:cs typeface="Andale Mono" charset="0"/>
            </a:endParaRPr>
          </a:p>
          <a:p>
            <a:pPr latinLnBrk="0" hangingPunct="0"/>
            <a:r>
              <a:rPr lang="cs-CZ" sz="1200" b="1" dirty="0">
                <a:effectLst>
                  <a:outerShdw sx="0" sy="0" algn="ctr">
                    <a:srgbClr val="159294"/>
                  </a:outerShdw>
                </a:effectLst>
                <a:latin typeface="Andale Mono" charset="0"/>
                <a:ea typeface="Andale Mono" charset="0"/>
                <a:cs typeface="Andale Mono" charset="0"/>
              </a:rPr>
              <a:t>Příklad:</a:t>
            </a:r>
          </a:p>
          <a:p>
            <a:pPr latinLnBrk="0" hangingPunct="0"/>
            <a:endParaRPr lang="cs-CZ" sz="1200" dirty="0">
              <a:effectLst>
                <a:outerShdw sx="0" sy="0" algn="ctr">
                  <a:srgbClr val="159294"/>
                </a:outerShdw>
              </a:effectLst>
              <a:latin typeface="Andale Mono" charset="0"/>
              <a:ea typeface="Andale Mono" charset="0"/>
              <a:cs typeface="Andale Mono" charset="0"/>
            </a:endParaRPr>
          </a:p>
          <a:p>
            <a:pPr latinLnBrk="0" hangingPunct="0"/>
            <a:r>
              <a:rPr lang="cs-CZ" sz="1200" dirty="0">
                <a:effectLst>
                  <a:outerShdw sx="0" sy="0" algn="ctr">
                    <a:srgbClr val="159294"/>
                  </a:outerShdw>
                </a:effectLst>
                <a:latin typeface="Andale Mono" charset="0"/>
                <a:ea typeface="Andale Mono" charset="0"/>
                <a:cs typeface="Andale Mono" charset="0"/>
              </a:rPr>
              <a:t>Vzdálenost (cm) = 0,0343 (cm/</a:t>
            </a:r>
            <a:r>
              <a:rPr lang="cs-CZ" sz="1200" dirty="0" err="1">
                <a:effectLst>
                  <a:outerShdw sx="0" sy="0" algn="ctr">
                    <a:srgbClr val="159294"/>
                  </a:outerShdw>
                </a:effectLst>
                <a:latin typeface="Andale Mono" charset="0"/>
                <a:ea typeface="Andale Mono" charset="0"/>
                <a:cs typeface="Andale Mono" charset="0"/>
              </a:rPr>
              <a:t>us</a:t>
            </a:r>
            <a:r>
              <a:rPr lang="cs-CZ" sz="1200" dirty="0">
                <a:effectLst>
                  <a:outerShdw sx="0" sy="0" algn="ctr">
                    <a:srgbClr val="159294"/>
                  </a:outerShdw>
                </a:effectLst>
                <a:latin typeface="Andale Mono" charset="0"/>
                <a:ea typeface="Andale Mono" charset="0"/>
                <a:cs typeface="Andale Mono" charset="0"/>
              </a:rPr>
              <a:t>) × 2000 (</a:t>
            </a:r>
            <a:r>
              <a:rPr lang="cs-CZ" sz="1200" dirty="0" err="1">
                <a:effectLst>
                  <a:outerShdw sx="0" sy="0" algn="ctr">
                    <a:srgbClr val="159294"/>
                  </a:outerShdw>
                </a:effectLst>
                <a:latin typeface="Andale Mono" charset="0"/>
                <a:ea typeface="Andale Mono" charset="0"/>
                <a:cs typeface="Andale Mono" charset="0"/>
              </a:rPr>
              <a:t>us</a:t>
            </a:r>
            <a:r>
              <a:rPr lang="cs-CZ" sz="1200" dirty="0">
                <a:effectLst>
                  <a:outerShdw sx="0" sy="0" algn="ctr">
                    <a:srgbClr val="159294"/>
                  </a:outerShdw>
                </a:effectLst>
                <a:latin typeface="Andale Mono" charset="0"/>
                <a:ea typeface="Andale Mono" charset="0"/>
                <a:cs typeface="Andale Mono" charset="0"/>
              </a:rPr>
              <a:t>)/2 = 34,3 cm</a:t>
            </a:r>
          </a:p>
          <a:p>
            <a:pPr latinLnBrk="0" hangingPunct="0"/>
            <a:endParaRPr lang="cs-CZ" sz="1200" dirty="0">
              <a:effectLst>
                <a:outerShdw sx="0" sy="0" algn="ctr">
                  <a:srgbClr val="159294"/>
                </a:outerShdw>
              </a:effectLst>
              <a:latin typeface="Andale Mono" charset="0"/>
              <a:ea typeface="Andale Mono" charset="0"/>
              <a:cs typeface="Andale Mono" charset="0"/>
            </a:endParaRPr>
          </a:p>
        </p:txBody>
      </p:sp>
      <p:pic>
        <p:nvPicPr>
          <p:cNvPr id="13" name="Obrázek 12">
            <a:extLst>
              <a:ext uri="{FF2B5EF4-FFF2-40B4-BE49-F238E27FC236}">
                <a16:creationId xmlns:a16="http://schemas.microsoft.com/office/drawing/2014/main" id="{B4B590A1-C5E9-D242-8059-3F6537454C4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35896" y="1635646"/>
            <a:ext cx="3253740" cy="14611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Skupina 9">
            <a:extLst>
              <a:ext uri="{FF2B5EF4-FFF2-40B4-BE49-F238E27FC236}">
                <a16:creationId xmlns:a16="http://schemas.microsoft.com/office/drawing/2014/main" id="{496AD129-B918-214F-8426-CE378EA4BAA2}"/>
              </a:ext>
            </a:extLst>
          </p:cNvPr>
          <p:cNvGrpSpPr/>
          <p:nvPr/>
        </p:nvGrpSpPr>
        <p:grpSpPr>
          <a:xfrm>
            <a:off x="395536" y="4659804"/>
            <a:ext cx="1416811" cy="432226"/>
            <a:chOff x="7524328" y="199433"/>
            <a:chExt cx="1416811" cy="432226"/>
          </a:xfrm>
        </p:grpSpPr>
        <p:pic>
          <p:nvPicPr>
            <p:cNvPr id="12" name="Obrázek 11">
              <a:extLst>
                <a:ext uri="{FF2B5EF4-FFF2-40B4-BE49-F238E27FC236}">
                  <a16:creationId xmlns:a16="http://schemas.microsoft.com/office/drawing/2014/main" id="{4675B642-E574-D54F-B1E3-40400EA25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11772" y="199433"/>
              <a:ext cx="529367" cy="360218"/>
            </a:xfrm>
            <a:prstGeom prst="rect">
              <a:avLst/>
            </a:prstGeom>
          </p:spPr>
        </p:pic>
        <p:sp>
          <p:nvSpPr>
            <p:cNvPr id="18" name="TextovéPole 17">
              <a:extLst>
                <a:ext uri="{FF2B5EF4-FFF2-40B4-BE49-F238E27FC236}">
                  <a16:creationId xmlns:a16="http://schemas.microsoft.com/office/drawing/2014/main" id="{FD5E9D4B-D481-1847-9C01-8CA7F6195082}"/>
                </a:ext>
              </a:extLst>
            </p:cNvPr>
            <p:cNvSpPr txBox="1"/>
            <p:nvPr/>
          </p:nvSpPr>
          <p:spPr>
            <a:xfrm>
              <a:off x="7524328" y="416215"/>
              <a:ext cx="9156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sz="800" b="1">
                  <a:solidFill>
                    <a:schemeClr val="bg1"/>
                  </a:solidFill>
                  <a:latin typeface="Andale Mono" charset="0"/>
                  <a:ea typeface="Andale Mono" charset="0"/>
                  <a:cs typeface="Andale Mono" charset="0"/>
                </a:rPr>
                <a:t>PROGRAMOVÁNÍ</a:t>
              </a:r>
              <a:endParaRPr lang="cs-CZ" sz="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77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36512" y="0"/>
            <a:ext cx="2016224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 Placeholder 1"/>
          <p:cNvSpPr txBox="1">
            <a:spLocks/>
          </p:cNvSpPr>
          <p:nvPr/>
        </p:nvSpPr>
        <p:spPr>
          <a:xfrm>
            <a:off x="-36512" y="555526"/>
            <a:ext cx="1980220" cy="144040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1800" b="1" dirty="0" err="1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Sestavení</a:t>
            </a:r>
            <a:r>
              <a:rPr lang="en-US" altLang="ko-KR" sz="1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en-US" altLang="ko-KR" sz="1800" b="1" dirty="0" err="1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obvodu</a:t>
            </a:r>
            <a:endParaRPr lang="ko-KR" altLang="en-US" sz="1800" b="1" dirty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</p:txBody>
      </p:sp>
      <p:sp>
        <p:nvSpPr>
          <p:cNvPr id="11" name="TextovéPole 10"/>
          <p:cNvSpPr txBox="1"/>
          <p:nvPr/>
        </p:nvSpPr>
        <p:spPr>
          <a:xfrm>
            <a:off x="2843808" y="577012"/>
            <a:ext cx="2776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600" b="1" dirty="0">
                <a:solidFill>
                  <a:srgbClr val="AB7942"/>
                </a:solidFill>
                <a:latin typeface="Andale Mono" charset="0"/>
                <a:ea typeface="Andale Mono" charset="0"/>
                <a:cs typeface="Andale Mono" charset="0"/>
              </a:rPr>
              <a:t>Co budeme potřebovat?</a:t>
            </a:r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384776CC-3AD6-314E-B26A-2F58B0E691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204679"/>
              </p:ext>
            </p:extLst>
          </p:nvPr>
        </p:nvGraphicFramePr>
        <p:xfrm>
          <a:off x="2915816" y="2139702"/>
          <a:ext cx="5803900" cy="223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3" name="Dokument" r:id="rId3" imgW="5803900" imgH="2235200" progId="Word.Document.12">
                  <p:embed/>
                </p:oleObj>
              </mc:Choice>
              <mc:Fallback>
                <p:oleObj name="Dokument" r:id="rId3" imgW="5803900" imgH="22352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15816" y="2139702"/>
                        <a:ext cx="5803900" cy="2235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Skupina 11">
            <a:extLst>
              <a:ext uri="{FF2B5EF4-FFF2-40B4-BE49-F238E27FC236}">
                <a16:creationId xmlns:a16="http://schemas.microsoft.com/office/drawing/2014/main" id="{1466E465-7210-8D48-9AD6-41C5D683773C}"/>
              </a:ext>
            </a:extLst>
          </p:cNvPr>
          <p:cNvGrpSpPr/>
          <p:nvPr/>
        </p:nvGrpSpPr>
        <p:grpSpPr>
          <a:xfrm>
            <a:off x="395536" y="4659804"/>
            <a:ext cx="1416811" cy="432226"/>
            <a:chOff x="7524328" y="199433"/>
            <a:chExt cx="1416811" cy="432226"/>
          </a:xfrm>
        </p:grpSpPr>
        <p:pic>
          <p:nvPicPr>
            <p:cNvPr id="13" name="Obrázek 12">
              <a:extLst>
                <a:ext uri="{FF2B5EF4-FFF2-40B4-BE49-F238E27FC236}">
                  <a16:creationId xmlns:a16="http://schemas.microsoft.com/office/drawing/2014/main" id="{FD8B7F4A-0EA8-EC4C-A2C2-5FD91ADBD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11772" y="199433"/>
              <a:ext cx="529367" cy="360218"/>
            </a:xfrm>
            <a:prstGeom prst="rect">
              <a:avLst/>
            </a:prstGeom>
          </p:spPr>
        </p:pic>
        <p:sp>
          <p:nvSpPr>
            <p:cNvPr id="15" name="TextovéPole 14">
              <a:extLst>
                <a:ext uri="{FF2B5EF4-FFF2-40B4-BE49-F238E27FC236}">
                  <a16:creationId xmlns:a16="http://schemas.microsoft.com/office/drawing/2014/main" id="{83398135-311F-4642-A920-ACB370D65C84}"/>
                </a:ext>
              </a:extLst>
            </p:cNvPr>
            <p:cNvSpPr txBox="1"/>
            <p:nvPr/>
          </p:nvSpPr>
          <p:spPr>
            <a:xfrm>
              <a:off x="7524328" y="416215"/>
              <a:ext cx="9156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sz="800" b="1">
                  <a:solidFill>
                    <a:schemeClr val="bg1"/>
                  </a:solidFill>
                  <a:latin typeface="Andale Mono" charset="0"/>
                  <a:ea typeface="Andale Mono" charset="0"/>
                  <a:cs typeface="Andale Mono" charset="0"/>
                </a:rPr>
                <a:t>PROGRAMOVÁNÍ</a:t>
              </a:r>
              <a:endParaRPr lang="cs-CZ" sz="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0339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36512" y="0"/>
            <a:ext cx="2016224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 Placeholder 1"/>
          <p:cNvSpPr txBox="1">
            <a:spLocks/>
          </p:cNvSpPr>
          <p:nvPr/>
        </p:nvSpPr>
        <p:spPr>
          <a:xfrm>
            <a:off x="-36512" y="555526"/>
            <a:ext cx="1980220" cy="144040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1800" b="1" dirty="0" err="1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Elektronický</a:t>
            </a:r>
            <a:r>
              <a:rPr lang="en-US" altLang="ko-KR" sz="1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 </a:t>
            </a:r>
            <a:r>
              <a:rPr lang="en-US" altLang="ko-KR" sz="1800" b="1" dirty="0" err="1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obvod</a:t>
            </a:r>
            <a:endParaRPr lang="ko-KR" altLang="en-US" sz="1800" b="1" dirty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</p:txBody>
      </p:sp>
      <p:sp>
        <p:nvSpPr>
          <p:cNvPr id="18" name="TextovéPole 17"/>
          <p:cNvSpPr txBox="1"/>
          <p:nvPr/>
        </p:nvSpPr>
        <p:spPr>
          <a:xfrm>
            <a:off x="2627784" y="555526"/>
            <a:ext cx="203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1600" b="1" dirty="0">
                <a:solidFill>
                  <a:srgbClr val="AB7942"/>
                </a:solidFill>
                <a:latin typeface="Andale Mono" charset="0"/>
                <a:ea typeface="Andale Mono" charset="0"/>
                <a:cs typeface="Andale Mono" charset="0"/>
              </a:rPr>
              <a:t>Schéma zapojení</a:t>
            </a:r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5FE7A146-3CB8-494A-BB8A-79F6C3BC2490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49" r="-114" b="4474"/>
          <a:stretch/>
        </p:blipFill>
        <p:spPr bwMode="auto">
          <a:xfrm rot="16200000">
            <a:off x="3904110" y="1511448"/>
            <a:ext cx="2838376" cy="27987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11" name="Skupina 10">
            <a:extLst>
              <a:ext uri="{FF2B5EF4-FFF2-40B4-BE49-F238E27FC236}">
                <a16:creationId xmlns:a16="http://schemas.microsoft.com/office/drawing/2014/main" id="{AE1EFE7D-7642-C345-BCC8-F87C285BAED9}"/>
              </a:ext>
            </a:extLst>
          </p:cNvPr>
          <p:cNvGrpSpPr/>
          <p:nvPr/>
        </p:nvGrpSpPr>
        <p:grpSpPr>
          <a:xfrm>
            <a:off x="395536" y="4659804"/>
            <a:ext cx="1416811" cy="432226"/>
            <a:chOff x="7524328" y="199433"/>
            <a:chExt cx="1416811" cy="432226"/>
          </a:xfrm>
        </p:grpSpPr>
        <p:pic>
          <p:nvPicPr>
            <p:cNvPr id="13" name="Obrázek 12">
              <a:extLst>
                <a:ext uri="{FF2B5EF4-FFF2-40B4-BE49-F238E27FC236}">
                  <a16:creationId xmlns:a16="http://schemas.microsoft.com/office/drawing/2014/main" id="{88CDB332-6B75-8E4B-9A80-9B5C1125A5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11772" y="199433"/>
              <a:ext cx="529367" cy="360218"/>
            </a:xfrm>
            <a:prstGeom prst="rect">
              <a:avLst/>
            </a:prstGeom>
          </p:spPr>
        </p:pic>
        <p:sp>
          <p:nvSpPr>
            <p:cNvPr id="15" name="TextovéPole 14">
              <a:extLst>
                <a:ext uri="{FF2B5EF4-FFF2-40B4-BE49-F238E27FC236}">
                  <a16:creationId xmlns:a16="http://schemas.microsoft.com/office/drawing/2014/main" id="{638116FA-79BE-7841-B9A9-4D8616957D9C}"/>
                </a:ext>
              </a:extLst>
            </p:cNvPr>
            <p:cNvSpPr txBox="1"/>
            <p:nvPr/>
          </p:nvSpPr>
          <p:spPr>
            <a:xfrm>
              <a:off x="7524328" y="416215"/>
              <a:ext cx="9156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sz="800" b="1">
                  <a:solidFill>
                    <a:schemeClr val="bg1"/>
                  </a:solidFill>
                  <a:latin typeface="Andale Mono" charset="0"/>
                  <a:ea typeface="Andale Mono" charset="0"/>
                  <a:cs typeface="Andale Mono" charset="0"/>
                </a:rPr>
                <a:t>PROGRAMOVÁNÍ</a:t>
              </a:r>
              <a:endParaRPr lang="cs-CZ" sz="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2601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36512" y="0"/>
            <a:ext cx="2016224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 Placeholder 1"/>
          <p:cNvSpPr txBox="1">
            <a:spLocks/>
          </p:cNvSpPr>
          <p:nvPr/>
        </p:nvSpPr>
        <p:spPr>
          <a:xfrm>
            <a:off x="-36512" y="555526"/>
            <a:ext cx="1980220" cy="144040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1800" b="1" dirty="0" err="1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Programový</a:t>
            </a:r>
            <a:r>
              <a:rPr lang="en-US" altLang="ko-KR" sz="1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 </a:t>
            </a:r>
            <a:br>
              <a:rPr lang="en-US" altLang="ko-KR" sz="1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</a:br>
            <a:r>
              <a:rPr lang="en-US" altLang="ko-KR" sz="1800" b="1" dirty="0" err="1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kód</a:t>
            </a:r>
            <a:endParaRPr lang="ko-KR" altLang="en-US" sz="1800" b="1" dirty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</p:txBody>
      </p:sp>
      <p:graphicFrame>
        <p:nvGraphicFramePr>
          <p:cNvPr id="6" name="Objekt 5">
            <a:extLst>
              <a:ext uri="{FF2B5EF4-FFF2-40B4-BE49-F238E27FC236}">
                <a16:creationId xmlns:a16="http://schemas.microsoft.com/office/drawing/2014/main" id="{4BF8C690-3CEE-F241-B58C-DB3542451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4253883"/>
              </p:ext>
            </p:extLst>
          </p:nvPr>
        </p:nvGraphicFramePr>
        <p:xfrm>
          <a:off x="2831152" y="560864"/>
          <a:ext cx="5575300" cy="4600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0" name="Dokument" r:id="rId3" imgW="5575300" imgH="4559300" progId="Word.Document.12">
                  <p:embed/>
                </p:oleObj>
              </mc:Choice>
              <mc:Fallback>
                <p:oleObj name="Dokument" r:id="rId3" imgW="5575300" imgH="45593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31152" y="560864"/>
                        <a:ext cx="5575300" cy="46006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Skupina 10">
            <a:extLst>
              <a:ext uri="{FF2B5EF4-FFF2-40B4-BE49-F238E27FC236}">
                <a16:creationId xmlns:a16="http://schemas.microsoft.com/office/drawing/2014/main" id="{3070FB70-8CC5-B54B-A990-EED34594243B}"/>
              </a:ext>
            </a:extLst>
          </p:cNvPr>
          <p:cNvGrpSpPr/>
          <p:nvPr/>
        </p:nvGrpSpPr>
        <p:grpSpPr>
          <a:xfrm>
            <a:off x="395536" y="4659804"/>
            <a:ext cx="1416811" cy="432226"/>
            <a:chOff x="7524328" y="199433"/>
            <a:chExt cx="1416811" cy="432226"/>
          </a:xfrm>
        </p:grpSpPr>
        <p:pic>
          <p:nvPicPr>
            <p:cNvPr id="12" name="Obrázek 11">
              <a:extLst>
                <a:ext uri="{FF2B5EF4-FFF2-40B4-BE49-F238E27FC236}">
                  <a16:creationId xmlns:a16="http://schemas.microsoft.com/office/drawing/2014/main" id="{7B5B877C-3E0C-B240-8C98-DC398DC0B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11772" y="199433"/>
              <a:ext cx="529367" cy="360218"/>
            </a:xfrm>
            <a:prstGeom prst="rect">
              <a:avLst/>
            </a:prstGeom>
          </p:spPr>
        </p:pic>
        <p:sp>
          <p:nvSpPr>
            <p:cNvPr id="13" name="TextovéPole 12">
              <a:extLst>
                <a:ext uri="{FF2B5EF4-FFF2-40B4-BE49-F238E27FC236}">
                  <a16:creationId xmlns:a16="http://schemas.microsoft.com/office/drawing/2014/main" id="{29FEE926-ED90-F940-A52E-F8D471A330C2}"/>
                </a:ext>
              </a:extLst>
            </p:cNvPr>
            <p:cNvSpPr txBox="1"/>
            <p:nvPr/>
          </p:nvSpPr>
          <p:spPr>
            <a:xfrm>
              <a:off x="7524328" y="416215"/>
              <a:ext cx="9156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sz="800" b="1">
                  <a:solidFill>
                    <a:schemeClr val="bg1"/>
                  </a:solidFill>
                  <a:latin typeface="Andale Mono" charset="0"/>
                  <a:ea typeface="Andale Mono" charset="0"/>
                  <a:cs typeface="Andale Mono" charset="0"/>
                </a:rPr>
                <a:t>PROGRAMOVÁNÍ</a:t>
              </a:r>
              <a:endParaRPr lang="cs-CZ" sz="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335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-36512" y="0"/>
            <a:ext cx="2016224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 Placeholder 1"/>
          <p:cNvSpPr txBox="1">
            <a:spLocks/>
          </p:cNvSpPr>
          <p:nvPr/>
        </p:nvSpPr>
        <p:spPr>
          <a:xfrm>
            <a:off x="-36512" y="555526"/>
            <a:ext cx="1980220" cy="144040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1800" b="1" dirty="0" err="1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Otázka</a:t>
            </a:r>
            <a:r>
              <a:rPr lang="en-US" altLang="ko-KR" sz="1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 pro </a:t>
            </a:r>
            <a:br>
              <a:rPr lang="en-US" altLang="ko-KR" sz="1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</a:br>
            <a:r>
              <a:rPr lang="en-US" altLang="ko-KR" sz="1800" b="1" dirty="0" err="1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rPr>
              <a:t>vás</a:t>
            </a:r>
            <a:endParaRPr lang="ko-KR" altLang="en-US" sz="1800" b="1" dirty="0">
              <a:solidFill>
                <a:schemeClr val="bg1"/>
              </a:solidFill>
              <a:latin typeface="Andale Mono" charset="0"/>
              <a:ea typeface="Andale Mono" charset="0"/>
              <a:cs typeface="Andale Mono" charset="0"/>
            </a:endParaRPr>
          </a:p>
        </p:txBody>
      </p:sp>
      <p:sp>
        <p:nvSpPr>
          <p:cNvPr id="18" name="TextovéPole 17"/>
          <p:cNvSpPr txBox="1"/>
          <p:nvPr/>
        </p:nvSpPr>
        <p:spPr>
          <a:xfrm>
            <a:off x="2483768" y="555526"/>
            <a:ext cx="59766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 hangingPunct="0"/>
            <a:r>
              <a:rPr lang="cs-CZ" sz="1600" dirty="0">
                <a:solidFill>
                  <a:srgbClr val="AB7942"/>
                </a:solidFill>
                <a:latin typeface="Andale Mono" charset="0"/>
                <a:ea typeface="Andale Mono" charset="0"/>
                <a:cs typeface="Andale Mono" charset="0"/>
              </a:rPr>
              <a:t>Dokázali byste vysvětlit vzorec, který vypočítává vzdálenost čidla od objektu?</a:t>
            </a:r>
          </a:p>
        </p:txBody>
      </p:sp>
      <p:sp>
        <p:nvSpPr>
          <p:cNvPr id="2" name="Obdélník 1"/>
          <p:cNvSpPr/>
          <p:nvPr/>
        </p:nvSpPr>
        <p:spPr>
          <a:xfrm>
            <a:off x="2555776" y="1536834"/>
            <a:ext cx="6120680" cy="964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Aft>
                <a:spcPts val="400"/>
              </a:spcAft>
              <a:buClr>
                <a:srgbClr val="C21E68"/>
              </a:buClr>
            </a:pPr>
            <a:r>
              <a:rPr lang="cs-CZ" sz="1200" dirty="0">
                <a:solidFill>
                  <a:srgbClr val="595959"/>
                </a:solidFill>
                <a:latin typeface="Andale Mono" charset="0"/>
                <a:ea typeface="Andale Mono" charset="0"/>
                <a:cs typeface="Andale Mono" charset="0"/>
              </a:rPr>
              <a:t>Vychází se z předchozího vzorce: </a:t>
            </a:r>
          </a:p>
          <a:p>
            <a:pPr lvl="0">
              <a:lnSpc>
                <a:spcPts val="1400"/>
              </a:lnSpc>
              <a:spcAft>
                <a:spcPts val="400"/>
              </a:spcAft>
              <a:buClr>
                <a:srgbClr val="C21E68"/>
              </a:buClr>
            </a:pPr>
            <a:endParaRPr lang="cs-CZ" sz="1200" dirty="0">
              <a:solidFill>
                <a:srgbClr val="595959"/>
              </a:solidFill>
              <a:effectLst>
                <a:outerShdw sx="0" sy="0" algn="ctr">
                  <a:srgbClr val="159294"/>
                </a:outerShdw>
              </a:effectLst>
              <a:latin typeface="Andale Mono" charset="0"/>
              <a:ea typeface="Andale Mono" charset="0"/>
              <a:cs typeface="Andale Mono" charset="0"/>
            </a:endParaRPr>
          </a:p>
          <a:p>
            <a:pPr lvl="0">
              <a:lnSpc>
                <a:spcPts val="1400"/>
              </a:lnSpc>
              <a:spcAft>
                <a:spcPts val="400"/>
              </a:spcAft>
              <a:buClr>
                <a:srgbClr val="C21E68"/>
              </a:buClr>
            </a:pPr>
            <a:r>
              <a:rPr lang="cs-CZ" sz="1200" b="1" dirty="0">
                <a:effectLst>
                  <a:outerShdw sx="0" sy="0" algn="ctr">
                    <a:srgbClr val="159294"/>
                  </a:outerShdw>
                </a:effectLst>
                <a:latin typeface="Andale Mono" charset="0"/>
                <a:ea typeface="Andale Mono" charset="0"/>
                <a:cs typeface="Andale Mono" charset="0"/>
              </a:rPr>
              <a:t>rychlost zvuku (cm/µs) × čas (µs)/2</a:t>
            </a:r>
          </a:p>
          <a:p>
            <a:pPr lvl="0">
              <a:lnSpc>
                <a:spcPts val="1400"/>
              </a:lnSpc>
              <a:spcAft>
                <a:spcPts val="400"/>
              </a:spcAft>
              <a:buClr>
                <a:srgbClr val="C21E68"/>
              </a:buClr>
            </a:pPr>
            <a:endParaRPr lang="cs-CZ" sz="1200" b="1" dirty="0">
              <a:solidFill>
                <a:srgbClr val="595959"/>
              </a:solidFill>
              <a:effectLst/>
              <a:latin typeface="Andale Mono" charset="0"/>
              <a:ea typeface="Andale Mono" charset="0"/>
              <a:cs typeface="Andale Mono" charset="0"/>
            </a:endParaRPr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7642205E-A282-9A48-B85F-72F7D7237841}"/>
              </a:ext>
            </a:extLst>
          </p:cNvPr>
          <p:cNvSpPr/>
          <p:nvPr/>
        </p:nvSpPr>
        <p:spPr>
          <a:xfrm>
            <a:off x="2555776" y="2715766"/>
            <a:ext cx="4572000" cy="6101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1300"/>
              </a:lnSpc>
            </a:pP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cs-CZ" dirty="0" err="1">
                <a:solidFill>
                  <a:srgbClr val="FFA3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pulseIn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echoPin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cs-CZ" dirty="0">
                <a:solidFill>
                  <a:srgbClr val="2F549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ts val="1300"/>
              </a:lnSpc>
            </a:pPr>
            <a:endParaRPr lang="cs-CZ" dirty="0">
              <a:solidFill>
                <a:srgbClr val="FFA300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300"/>
              </a:lnSpc>
            </a:pP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distance = </a:t>
            </a:r>
            <a:r>
              <a:rPr lang="cs-CZ" dirty="0" err="1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duration</a:t>
            </a:r>
            <a:r>
              <a:rPr lang="cs-CZ" dirty="0">
                <a:solidFill>
                  <a:srgbClr val="0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* 0.034 / 2;</a:t>
            </a:r>
            <a:endParaRPr lang="cs-CZ" dirty="0">
              <a:solidFill>
                <a:srgbClr val="FFA300"/>
              </a:solidFill>
              <a:latin typeface="Consolas" panose="020B06090202040302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BD04CECE-092D-1B4F-8DC1-8AFCD62FF990}"/>
              </a:ext>
            </a:extLst>
          </p:cNvPr>
          <p:cNvSpPr txBox="1"/>
          <p:nvPr/>
        </p:nvSpPr>
        <p:spPr>
          <a:xfrm>
            <a:off x="5724128" y="3939902"/>
            <a:ext cx="2351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rychlost zvuku v m/s</a:t>
            </a:r>
          </a:p>
        </p:txBody>
      </p:sp>
      <p:cxnSp>
        <p:nvCxnSpPr>
          <p:cNvPr id="11" name="Přímá spojovací šipka 10">
            <a:extLst>
              <a:ext uri="{FF2B5EF4-FFF2-40B4-BE49-F238E27FC236}">
                <a16:creationId xmlns:a16="http://schemas.microsoft.com/office/drawing/2014/main" id="{0C795438-E7B8-7744-86C2-009F56F7F548}"/>
              </a:ext>
            </a:extLst>
          </p:cNvPr>
          <p:cNvCxnSpPr/>
          <p:nvPr/>
        </p:nvCxnSpPr>
        <p:spPr>
          <a:xfrm>
            <a:off x="5868144" y="3325933"/>
            <a:ext cx="720080" cy="613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84A13F19-CC94-F047-8DE4-F2A5ED2C0300}"/>
              </a:ext>
            </a:extLst>
          </p:cNvPr>
          <p:cNvSpPr txBox="1"/>
          <p:nvPr/>
        </p:nvSpPr>
        <p:spPr>
          <a:xfrm>
            <a:off x="3524205" y="3939902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čas</a:t>
            </a:r>
          </a:p>
        </p:txBody>
      </p:sp>
      <p:cxnSp>
        <p:nvCxnSpPr>
          <p:cNvPr id="15" name="Přímá spojovací šipka 14">
            <a:extLst>
              <a:ext uri="{FF2B5EF4-FFF2-40B4-BE49-F238E27FC236}">
                <a16:creationId xmlns:a16="http://schemas.microsoft.com/office/drawing/2014/main" id="{6D775088-D9A8-AC4E-99B8-2AC516FBAFCD}"/>
              </a:ext>
            </a:extLst>
          </p:cNvPr>
          <p:cNvCxnSpPr>
            <a:endCxn id="12" idx="0"/>
          </p:cNvCxnSpPr>
          <p:nvPr/>
        </p:nvCxnSpPr>
        <p:spPr>
          <a:xfrm flipH="1">
            <a:off x="3796075" y="3325933"/>
            <a:ext cx="631909" cy="613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Skupina 15">
            <a:extLst>
              <a:ext uri="{FF2B5EF4-FFF2-40B4-BE49-F238E27FC236}">
                <a16:creationId xmlns:a16="http://schemas.microsoft.com/office/drawing/2014/main" id="{60A511DC-B554-6D4E-AF01-17FAF286A3C8}"/>
              </a:ext>
            </a:extLst>
          </p:cNvPr>
          <p:cNvGrpSpPr/>
          <p:nvPr/>
        </p:nvGrpSpPr>
        <p:grpSpPr>
          <a:xfrm>
            <a:off x="395536" y="4659804"/>
            <a:ext cx="1416811" cy="432226"/>
            <a:chOff x="7524328" y="199433"/>
            <a:chExt cx="1416811" cy="432226"/>
          </a:xfrm>
        </p:grpSpPr>
        <p:pic>
          <p:nvPicPr>
            <p:cNvPr id="17" name="Obrázek 16">
              <a:extLst>
                <a:ext uri="{FF2B5EF4-FFF2-40B4-BE49-F238E27FC236}">
                  <a16:creationId xmlns:a16="http://schemas.microsoft.com/office/drawing/2014/main" id="{D15A91EA-927C-8648-8259-026B101138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11772" y="199433"/>
              <a:ext cx="529367" cy="360218"/>
            </a:xfrm>
            <a:prstGeom prst="rect">
              <a:avLst/>
            </a:prstGeom>
          </p:spPr>
        </p:pic>
        <p:sp>
          <p:nvSpPr>
            <p:cNvPr id="19" name="TextovéPole 18">
              <a:extLst>
                <a:ext uri="{FF2B5EF4-FFF2-40B4-BE49-F238E27FC236}">
                  <a16:creationId xmlns:a16="http://schemas.microsoft.com/office/drawing/2014/main" id="{0B4758EE-9809-FD4D-A8E4-369E570E0E04}"/>
                </a:ext>
              </a:extLst>
            </p:cNvPr>
            <p:cNvSpPr txBox="1"/>
            <p:nvPr/>
          </p:nvSpPr>
          <p:spPr>
            <a:xfrm>
              <a:off x="7524328" y="416215"/>
              <a:ext cx="9156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sz="800" b="1">
                  <a:solidFill>
                    <a:schemeClr val="bg1"/>
                  </a:solidFill>
                  <a:latin typeface="Andale Mono" charset="0"/>
                  <a:ea typeface="Andale Mono" charset="0"/>
                  <a:cs typeface="Andale Mono" charset="0"/>
                </a:rPr>
                <a:t>PROGRAMOVÁNÍ</a:t>
              </a:r>
              <a:endParaRPr lang="cs-CZ" sz="800" b="1" dirty="0">
                <a:solidFill>
                  <a:schemeClr val="bg1"/>
                </a:solidFill>
                <a:latin typeface="Andale Mono" charset="0"/>
                <a:ea typeface="Andale Mono" charset="0"/>
                <a:cs typeface="Andale Mono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405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over and End Slide Master">
  <a:themeElements>
    <a:clrScheme name="ALLPPT-COLOR-A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2AEB8"/>
      </a:accent1>
      <a:accent2>
        <a:srgbClr val="F2A40D"/>
      </a:accent2>
      <a:accent3>
        <a:srgbClr val="32AEB8"/>
      </a:accent3>
      <a:accent4>
        <a:srgbClr val="F2A40D"/>
      </a:accent4>
      <a:accent5>
        <a:srgbClr val="32AEB8"/>
      </a:accent5>
      <a:accent6>
        <a:srgbClr val="F2A40D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2AEB8"/>
      </a:accent1>
      <a:accent2>
        <a:srgbClr val="F2A40D"/>
      </a:accent2>
      <a:accent3>
        <a:srgbClr val="32AEB8"/>
      </a:accent3>
      <a:accent4>
        <a:srgbClr val="F2A40D"/>
      </a:accent4>
      <a:accent5>
        <a:srgbClr val="32AEB8"/>
      </a:accent5>
      <a:accent6>
        <a:srgbClr val="F2A40D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2AEB8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1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32AEB8"/>
      </a:accent1>
      <a:accent2>
        <a:srgbClr val="F2A40D"/>
      </a:accent2>
      <a:accent3>
        <a:srgbClr val="32AEB8"/>
      </a:accent3>
      <a:accent4>
        <a:srgbClr val="F2A40D"/>
      </a:accent4>
      <a:accent5>
        <a:srgbClr val="32AEB8"/>
      </a:accent5>
      <a:accent6>
        <a:srgbClr val="F2A40D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4105</TotalTime>
  <Words>249</Words>
  <Application>Microsoft Macintosh PowerPoint</Application>
  <PresentationFormat>Předvádění na obrazovce (16:9)</PresentationFormat>
  <Paragraphs>34</Paragraphs>
  <Slides>7</Slides>
  <Notes>0</Notes>
  <HiddenSlides>0</HiddenSlides>
  <MMClips>0</MMClips>
  <ScaleCrop>false</ScaleCrop>
  <HeadingPairs>
    <vt:vector size="8" baseType="variant">
      <vt:variant>
        <vt:lpstr>Použitá písma</vt:lpstr>
      </vt:variant>
      <vt:variant>
        <vt:i4>4</vt:i4>
      </vt:variant>
      <vt:variant>
        <vt:lpstr>Motiv</vt:lpstr>
      </vt:variant>
      <vt:variant>
        <vt:i4>3</vt:i4>
      </vt:variant>
      <vt:variant>
        <vt:lpstr>Vložené servery OLE</vt:lpstr>
      </vt:variant>
      <vt:variant>
        <vt:i4>2</vt:i4>
      </vt:variant>
      <vt:variant>
        <vt:lpstr>Nadpisy snímků</vt:lpstr>
      </vt:variant>
      <vt:variant>
        <vt:i4>7</vt:i4>
      </vt:variant>
    </vt:vector>
  </HeadingPairs>
  <TitlesOfParts>
    <vt:vector size="16" baseType="lpstr">
      <vt:lpstr>Andale Mono</vt:lpstr>
      <vt:lpstr>Arial</vt:lpstr>
      <vt:lpstr>Calibri</vt:lpstr>
      <vt:lpstr>Consolas</vt:lpstr>
      <vt:lpstr>Cover and End Slide Master</vt:lpstr>
      <vt:lpstr>Contents Slide Master</vt:lpstr>
      <vt:lpstr>Section Break Slide Master</vt:lpstr>
      <vt:lpstr>Dokument Microsoft Wordu</vt:lpstr>
      <vt:lpstr>Dokument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Milan Novák</cp:lastModifiedBy>
  <cp:revision>287</cp:revision>
  <dcterms:created xsi:type="dcterms:W3CDTF">2016-12-05T23:26:54Z</dcterms:created>
  <dcterms:modified xsi:type="dcterms:W3CDTF">2021-02-06T15:25:01Z</dcterms:modified>
</cp:coreProperties>
</file>